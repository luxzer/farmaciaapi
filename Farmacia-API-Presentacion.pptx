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51bdf092-750d-3ce0-19cd-9a1501239021}">
          <p14:sldIdLst>
            <p14:sldId id="256"/>
          </p14:sldIdLst>
        </p14:section>
        <p14:section name="Resumen" id="{4dea777e-15b7-7e93-8162-6ab6f5966a2a}">
          <p14:sldIdLst>
            <p14:sldId id="257"/>
          </p14:sldIdLst>
        </p14:section>
        <p14:section name="Las seis preguntas" id="{ec62ee0a-969b-4041-8586-f361196bf7db}">
          <p14:sldIdLst>
            <p14:sldId id="258"/>
          </p14:sldIdLst>
        </p14:section>
        <p14:section name="1. Librerías" id="{4c68bc12-9c83-5b70-e0d6-e5dcd7ad766f}">
          <p14:sldIdLst>
            <p14:sldId id="259"/>
          </p14:sldIdLst>
        </p14:section>
        <p14:section name="2. Program.cs" id="{9e42c7e5-b14b-c3a5-31f9-7086dd7986e3}">
          <p14:sldIdLst>
            <p14:sldId id="260"/>
          </p14:sldIdLst>
        </p14:section>
        <p14:section name="3. Interfaces y DI" id="{df9a8734-25d9-54e7-a081-48fe314969f9}">
          <p14:sldIdLst>
            <p14:sldId id="261"/>
            <p14:sldId id="262"/>
          </p14:sldIdLst>
        </p14:section>
        <p14:section name="4. Métodos" id="{da93ae22-0a04-5415-abd2-2a1e3f088ee9}">
          <p14:sldIdLst>
            <p14:sldId id="263"/>
          </p14:sldIdLst>
        </p14:section>
        <p14:section name="5. Conexión a BD" id="{bd60c1a4-4678-0d62-d6b5-07daf7217f40}">
          <p14:sldIdLst>
            <p14:sldId id="264"/>
          </p14:sldIdLst>
        </p14:section>
        <p14:section name="6. Mejoras" id="{28b52ed9-945c-0893-391a-f487678439df}">
          <p14:sldIdLst>
            <p14:sldId id="265"/>
          </p14:sldIdLst>
        </p14:section>
        <p14:section name="Demo" id="{0cdd69f5-40f0-fa3e-826a-76fff93c9927}">
          <p14:sldIdLst>
            <p14:sldId id="266"/>
          </p14:sldIdLst>
        </p14:section>
        <p14:section name="Cierre" id="{65bdf462-fc7e-b38a-e4c7-95c1f733f83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Somos Luis Calderon y Rafael Urena. Construimos una Web API REST para la gestion de una farmacia, con ASP.NET Core 9 y MySQL, usando ADO.NET puro sin ningun 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controladores: Medicamentos, Clientes y uno de Diagnostico. Trece endpoints en total. El CRUD completo de dos tablas, mas una tercera tabla de auditoria. Lo importante del flujo: el controlador nunca habla con MySQL directamente, siempre pasa por una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 responder las seis preguntas del enunciado en este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dos paquetes NuGet. Si preguntan por que MySqlConnector y no MySql.Data, el oficial de Oracle: porque MySqlConnector es totalmente asincrono, mientras que el oficial simula el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Program.cs tiene dos mitades. Arriba se registra todo en el contenedor: es un catalogo que dice que entregar cuando alguien pida algo. Abajo se arma la cadena de middlewares por la que pasa cada peticion HTTP, y ahi el orden importa porque se ejecutan de arriba hacia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idea central del ejercicio. Si manana cambiamos MySQL por otro motor de base de datos, cambiamos UNA linea en Program.cs y ningun controlador se entera. Eso es el principio de inversion de dependencias.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interfaces propias. Los repositorios son Scoped, una instancia por peticion HTTP, que es lo recomendado para acceso a datos. La fabrica de conexiones es Singleton porque solo guarda la cadena de conexion y esa no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tabla tiene sus cinco metodos de CRUD. Los tres extra son stock-bajo, que demuestra el uso de IConfiguration, salud y auditoria. Los probamos todos antes de la presentacion.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ADO.NET puro: escribimos el SQL a mano y el mapeo a objetos tambien. Lo que mas puntos da decir es lo de los parametros: si escribieramos WHERE id = mas la variable concatenada, alguien podria enviar punto y coma DROP TABLE clientes. Con parametros eso es imposible.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Diecisiete oportunidades documentadas en las notas, agrupadas en seguridad, datos y rendimiento, y calidad de arquitectura. Estas tres son las que mas impacto tendrian.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10 es el remate: demuestra de una sola vez la interfaz propia, la escritura en base de datos y el ILogger. Dejarlo para el final y despues mostrar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Quedamos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BFD8CF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BFD8CF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5E7A7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9"/>
                </a:solidFill>
              </a:rPr>
              <a:t>Farmacia API  ·  ASP.NET Core 9 + MySQL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9BB0A9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FD8C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uz-vertical"/>
          <p:cNvSpPr/>
          <p:nvPr/>
        </p:nvSpPr>
        <p:spPr>
          <a:xfrm>
            <a:off x="9930384" y="914400"/>
            <a:ext cx="896112" cy="2651760"/>
          </a:xfrm>
          <a:prstGeom prst="roundRect">
            <a:avLst>
              <a:gd name="adj" fmla="val 122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cruz-horizontal"/>
          <p:cNvSpPr/>
          <p:nvPr/>
        </p:nvSpPr>
        <p:spPr>
          <a:xfrm>
            <a:off x="9052560" y="1792224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FBAAE"/>
                </a:solidFill>
              </a:rPr>
              <a:t>Desarrollo de Web API  ·  Octubre 2026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9659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Farmacia API</a:t>
            </a:r>
            <a:endParaRPr lang="en-US" sz="5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4747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8CF"/>
                </a:solidFill>
              </a:rPr>
              <a:t>CRUD completo de inventario y clientes sobre MySQL, con ADO.NET puro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EA1"/>
                </a:solidFill>
              </a:rPr>
              <a:t>INTEGRANTES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239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Luis Calderón   </a:t>
            </a:r>
            <a:pPr indent="0" marL="0">
              <a:buNone/>
            </a:pPr>
            <a:r>
              <a:rPr lang="en-US" sz="1400" dirty="0">
                <a:solidFill>
                  <a:srgbClr val="8FBAAE"/>
                </a:solidFill>
              </a:rPr>
              <a:t>22-1392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5239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Rafael Ureña   </a:t>
            </a:r>
            <a:pPr indent="0" marL="0">
              <a:buNone/>
            </a:pPr>
            <a:r>
              <a:rPr lang="en-US" sz="1400" dirty="0">
                <a:solidFill>
                  <a:srgbClr val="8FBAAE"/>
                </a:solidFill>
              </a:rPr>
              <a:t>22-1836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Qué construimos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Una API REST que gestiona el inventario y los clientes de una farmacia</a:t>
            </a:r>
            <a:endParaRPr lang="en-US" sz="1500" dirty="0"/>
          </a:p>
        </p:txBody>
      </p:sp>
      <p:sp>
        <p:nvSpPr>
          <p:cNvPr id="4" name="cifra-0"/>
          <p:cNvSpPr/>
          <p:nvPr/>
        </p:nvSpPr>
        <p:spPr>
          <a:xfrm>
            <a:off x="640080" y="1920240"/>
            <a:ext cx="26060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3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2"/>
                </a:solidFill>
              </a:rPr>
              <a:t>controladores</a:t>
            </a:r>
            <a:endParaRPr lang="en-US" sz="1300" dirty="0"/>
          </a:p>
        </p:txBody>
      </p:sp>
      <p:sp>
        <p:nvSpPr>
          <p:cNvPr id="7" name="cifra-1"/>
          <p:cNvSpPr/>
          <p:nvPr/>
        </p:nvSpPr>
        <p:spPr>
          <a:xfrm>
            <a:off x="3520440" y="1920240"/>
            <a:ext cx="26060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13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2"/>
                </a:solidFill>
              </a:rPr>
              <a:t>endpoints</a:t>
            </a:r>
            <a:endParaRPr lang="en-US" sz="1300" dirty="0"/>
          </a:p>
        </p:txBody>
      </p:sp>
      <p:sp>
        <p:nvSpPr>
          <p:cNvPr id="10" name="cifra-2"/>
          <p:cNvSpPr/>
          <p:nvPr/>
        </p:nvSpPr>
        <p:spPr>
          <a:xfrm>
            <a:off x="6400800" y="1920240"/>
            <a:ext cx="26060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4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2"/>
                </a:solidFill>
              </a:rPr>
              <a:t>interfaces propias</a:t>
            </a:r>
            <a:endParaRPr lang="en-US" sz="1300" dirty="0"/>
          </a:p>
        </p:txBody>
      </p:sp>
      <p:sp>
        <p:nvSpPr>
          <p:cNvPr id="13" name="cifra-3"/>
          <p:cNvSpPr/>
          <p:nvPr/>
        </p:nvSpPr>
        <p:spPr>
          <a:xfrm>
            <a:off x="9281160" y="1920240"/>
            <a:ext cx="26060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3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2"/>
                </a:solidFill>
              </a:rPr>
              <a:t>tablas en MySQL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Cómo viaja una petición</a:t>
            </a:r>
            <a:endParaRPr lang="en-US" sz="1600" dirty="0"/>
          </a:p>
        </p:txBody>
      </p:sp>
      <p:sp>
        <p:nvSpPr>
          <p:cNvPr id="17" name="flujo-0"/>
          <p:cNvSpPr/>
          <p:nvPr/>
        </p:nvSpPr>
        <p:spPr>
          <a:xfrm>
            <a:off x="640080" y="4023360"/>
            <a:ext cx="1938528" cy="713232"/>
          </a:xfrm>
          <a:prstGeom prst="roundRect">
            <a:avLst>
              <a:gd name="adj" fmla="val 8974"/>
            </a:avLst>
          </a:prstGeom>
          <a:solidFill>
            <a:schemeClr val="bg2"/>
          </a:solidFill>
          <a:ln w="12700">
            <a:solidFill>
              <a:srgbClr val="D3E3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23360"/>
            <a:ext cx="193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Swagger</a:t>
            </a:r>
            <a:endParaRPr lang="en-US" sz="1400" dirty="0"/>
          </a:p>
        </p:txBody>
      </p:sp>
      <p:sp>
        <p:nvSpPr>
          <p:cNvPr id="19" name="flecha-0"/>
          <p:cNvSpPr/>
          <p:nvPr/>
        </p:nvSpPr>
        <p:spPr>
          <a:xfrm>
            <a:off x="2592324" y="4288536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0" name="flujo-1"/>
          <p:cNvSpPr/>
          <p:nvPr/>
        </p:nvSpPr>
        <p:spPr>
          <a:xfrm>
            <a:off x="2916936" y="4023360"/>
            <a:ext cx="1938528" cy="713232"/>
          </a:xfrm>
          <a:prstGeom prst="roundRect">
            <a:avLst>
              <a:gd name="adj" fmla="val 8974"/>
            </a:avLst>
          </a:prstGeom>
          <a:solidFill>
            <a:schemeClr val="bg2"/>
          </a:solidFill>
          <a:ln w="12700">
            <a:solidFill>
              <a:srgbClr val="D3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16936" y="4023360"/>
            <a:ext cx="193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Controlador</a:t>
            </a:r>
            <a:endParaRPr lang="en-US" sz="1400" dirty="0"/>
          </a:p>
        </p:txBody>
      </p:sp>
      <p:sp>
        <p:nvSpPr>
          <p:cNvPr id="22" name="flecha-1"/>
          <p:cNvSpPr/>
          <p:nvPr/>
        </p:nvSpPr>
        <p:spPr>
          <a:xfrm>
            <a:off x="4869180" y="4288536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3" name="flujo-2"/>
          <p:cNvSpPr/>
          <p:nvPr/>
        </p:nvSpPr>
        <p:spPr>
          <a:xfrm>
            <a:off x="5193792" y="4023360"/>
            <a:ext cx="1938528" cy="713232"/>
          </a:xfrm>
          <a:prstGeom prst="roundRect">
            <a:avLst>
              <a:gd name="adj" fmla="val 8974"/>
            </a:avLst>
          </a:prstGeom>
          <a:solidFill>
            <a:schemeClr val="bg2"/>
          </a:solidFill>
          <a:ln w="12700">
            <a:solidFill>
              <a:srgbClr val="D3E3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4023360"/>
            <a:ext cx="193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Interfaz</a:t>
            </a:r>
            <a:endParaRPr lang="en-US" sz="1400" dirty="0"/>
          </a:p>
        </p:txBody>
      </p:sp>
      <p:sp>
        <p:nvSpPr>
          <p:cNvPr id="25" name="flecha-2"/>
          <p:cNvSpPr/>
          <p:nvPr/>
        </p:nvSpPr>
        <p:spPr>
          <a:xfrm>
            <a:off x="7146036" y="4288536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6" name="flujo-3"/>
          <p:cNvSpPr/>
          <p:nvPr/>
        </p:nvSpPr>
        <p:spPr>
          <a:xfrm>
            <a:off x="7470648" y="4023360"/>
            <a:ext cx="1938528" cy="713232"/>
          </a:xfrm>
          <a:prstGeom prst="roundRect">
            <a:avLst>
              <a:gd name="adj" fmla="val 8974"/>
            </a:avLst>
          </a:prstGeom>
          <a:solidFill>
            <a:schemeClr val="bg2"/>
          </a:solidFill>
          <a:ln w="12700">
            <a:solidFill>
              <a:srgbClr val="D3E3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70648" y="4023360"/>
            <a:ext cx="193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Repositorio</a:t>
            </a:r>
            <a:endParaRPr lang="en-US" sz="1400" dirty="0"/>
          </a:p>
        </p:txBody>
      </p:sp>
      <p:sp>
        <p:nvSpPr>
          <p:cNvPr id="28" name="flecha-3"/>
          <p:cNvSpPr/>
          <p:nvPr/>
        </p:nvSpPr>
        <p:spPr>
          <a:xfrm>
            <a:off x="9422892" y="4288536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9" name="flujo-4"/>
          <p:cNvSpPr/>
          <p:nvPr/>
        </p:nvSpPr>
        <p:spPr>
          <a:xfrm>
            <a:off x="9747504" y="4023360"/>
            <a:ext cx="1938528" cy="713232"/>
          </a:xfrm>
          <a:prstGeom prst="roundRect">
            <a:avLst>
              <a:gd name="adj" fmla="val 8974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47504" y="4023360"/>
            <a:ext cx="193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0749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A72"/>
                </a:solidFill>
              </a:rPr>
              <a:t>El controlador nunca habla con MySQL directamente: siempre pasa por una interfaz. Ese es el punto del ejercicio.</a:t>
            </a:r>
            <a:endParaRPr lang="en-US" sz="1400" dirty="0"/>
          </a:p>
        </p:txBody>
      </p:sp>
      <p:sp>
        <p:nvSpPr>
          <p:cNvPr id="33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uz-vertical"/>
          <p:cNvSpPr/>
          <p:nvPr/>
        </p:nvSpPr>
        <p:spPr>
          <a:xfrm>
            <a:off x="10204704" y="3474720"/>
            <a:ext cx="804672" cy="2377440"/>
          </a:xfrm>
          <a:prstGeom prst="roundRect">
            <a:avLst>
              <a:gd name="adj" fmla="val 1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cruz-horizontal"/>
          <p:cNvSpPr/>
          <p:nvPr/>
        </p:nvSpPr>
        <p:spPr>
          <a:xfrm>
            <a:off x="9418320" y="4261104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2344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Las seis preguntas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FD8CF"/>
                </a:solidFill>
              </a:rPr>
              <a:t>El orden en que las vamos a responder</a:t>
            </a:r>
            <a:endParaRPr lang="en-US" sz="1700" dirty="0"/>
          </a:p>
        </p:txBody>
      </p:sp>
      <p:sp>
        <p:nvSpPr>
          <p:cNvPr id="6" name="pnum-0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3429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Librerías instaladas</a:t>
            </a:r>
            <a:endParaRPr lang="en-US" sz="1600" dirty="0"/>
          </a:p>
        </p:txBody>
      </p:sp>
      <p:sp>
        <p:nvSpPr>
          <p:cNvPr id="9" name="pnum-1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4160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El código de Program.cs</a:t>
            </a:r>
            <a:endParaRPr lang="en-US" sz="1600" dirty="0"/>
          </a:p>
        </p:txBody>
      </p:sp>
      <p:sp>
        <p:nvSpPr>
          <p:cNvPr id="12" name="pnum-2"/>
          <p:cNvSpPr/>
          <p:nvPr/>
        </p:nvSpPr>
        <p:spPr>
          <a:xfrm>
            <a:off x="640080" y="4892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8920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Implementación de las interfaces</a:t>
            </a:r>
            <a:endParaRPr lang="en-US" sz="1600" dirty="0"/>
          </a:p>
        </p:txBody>
      </p:sp>
      <p:sp>
        <p:nvSpPr>
          <p:cNvPr id="15" name="pnum-3"/>
          <p:cNvSpPr/>
          <p:nvPr/>
        </p:nvSpPr>
        <p:spPr>
          <a:xfrm>
            <a:off x="5989320" y="3429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932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3429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Los métodos creados</a:t>
            </a:r>
            <a:endParaRPr lang="en-US" sz="1600" dirty="0"/>
          </a:p>
        </p:txBody>
      </p:sp>
      <p:sp>
        <p:nvSpPr>
          <p:cNvPr id="18" name="pnum-4"/>
          <p:cNvSpPr/>
          <p:nvPr/>
        </p:nvSpPr>
        <p:spPr>
          <a:xfrm>
            <a:off x="5989320" y="4160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4160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Método de conexión a la base de datos</a:t>
            </a:r>
            <a:endParaRPr lang="en-US" sz="1600" dirty="0"/>
          </a:p>
        </p:txBody>
      </p:sp>
      <p:sp>
        <p:nvSpPr>
          <p:cNvPr id="21" name="pnum-5"/>
          <p:cNvSpPr/>
          <p:nvPr/>
        </p:nvSpPr>
        <p:spPr>
          <a:xfrm>
            <a:off x="5989320" y="4892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8932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48920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Oportunidades de mejora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¿Qué librerías instalamos?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Solo dos paquetes NuGet. Todo lo demás ya viene incluido en el SDK de .NET</a:t>
            </a:r>
            <a:endParaRPr lang="en-US" sz="1500" dirty="0"/>
          </a:p>
        </p:txBody>
      </p:sp>
      <p:sp>
        <p:nvSpPr>
          <p:cNvPr id="6" name="lib-0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112264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MySqlConnector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9631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versión 2.6.2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07208"/>
            <a:ext cx="4764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Driver ADO.NET de MySQL. Nos da MySqlConnection, MySqlCommand y MySqlDataReader.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35584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A72"/>
                </a:solidFill>
              </a:rPr>
              <a:t>No es un ORM: el SQL lo escribimos nosotros.</a:t>
            </a:r>
            <a:endParaRPr lang="en-US" sz="1250" dirty="0"/>
          </a:p>
        </p:txBody>
      </p:sp>
      <p:sp>
        <p:nvSpPr>
          <p:cNvPr id="11" name="lib-1"/>
          <p:cNvSpPr/>
          <p:nvPr/>
        </p:nvSpPr>
        <p:spPr>
          <a:xfrm>
            <a:off x="6400800" y="1874520"/>
            <a:ext cx="5349240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3408" y="2112264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Swashbuckle.AspNetCore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249631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versión 10.2.3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93408" y="2807208"/>
            <a:ext cx="4764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 el documento OpenAPI a partir del código y sirve la página de Swagger.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335584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A72"/>
                </a:solidFill>
              </a:rPr>
              <a:t>Lee los comentarios /// del código.</a:t>
            </a:r>
            <a:endParaRPr lang="en-US" sz="1250" dirty="0"/>
          </a:p>
        </p:txBody>
      </p:sp>
      <p:sp>
        <p:nvSpPr>
          <p:cNvPr id="16" name="nota-sdk"/>
          <p:cNvSpPr/>
          <p:nvPr/>
        </p:nvSpPr>
        <p:spPr>
          <a:xfrm>
            <a:off x="640080" y="4069080"/>
            <a:ext cx="9905695" cy="1234440"/>
          </a:xfrm>
          <a:prstGeom prst="roundRect">
            <a:avLst>
              <a:gd name="adj" fmla="val 4444"/>
            </a:avLst>
          </a:prstGeom>
          <a:solidFill>
            <a:srgbClr val="0A3F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AAE"/>
                </a:solidFill>
              </a:rPr>
              <a:t>Lo que NO hubo que instalar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526280"/>
            <a:ext cx="93204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MVC y los controladores, ILogger, IConfiguration y el contenedor de inyección de dependencias: todo eso es parte del SDK de ASP.NET Core.</a:t>
            </a:r>
            <a:endParaRPr lang="en-US" sz="150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código de Program.cs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Desde .NET 6 no se escribe la clase Program ni el método Main: el compilador los genera</a:t>
            </a:r>
            <a:endParaRPr lang="en-US" sz="1500" dirty="0"/>
          </a:p>
        </p:txBody>
      </p:sp>
      <p:sp>
        <p:nvSpPr>
          <p:cNvPr id="6" name="mitad-0"/>
          <p:cNvSpPr/>
          <p:nvPr/>
        </p:nvSpPr>
        <p:spPr>
          <a:xfrm>
            <a:off x="640080" y="1783080"/>
            <a:ext cx="5349240" cy="3794760"/>
          </a:xfrm>
          <a:prstGeom prst="roundRect">
            <a:avLst>
              <a:gd name="adj" fmla="val 144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842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Primera mitad  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builder.Services…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A72"/>
                </a:solidFill>
              </a:rPr>
              <a:t>Un catálogo de herramientas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60904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CreateBuilder() arma IConfiguration, configura el logging y crea el contenedor de DI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AddControllers() habilita el enrutamiento hacia los controladores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ClearProviders() + AddSimpleConsole() dejan solo la consola para los logs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AddSingleton / AddScoped: aquí se registra la inyección de dependencias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AddSwaggerGen() configura Swagger e incorpora los comentarios del código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Build() cierra el catálogo: después ya no se puede registrar nada</a:t>
            </a:r>
            <a:endParaRPr lang="en-US" sz="1400" dirty="0"/>
          </a:p>
        </p:txBody>
      </p:sp>
      <p:sp>
        <p:nvSpPr>
          <p:cNvPr id="10" name="mitad-1"/>
          <p:cNvSpPr/>
          <p:nvPr/>
        </p:nvSpPr>
        <p:spPr>
          <a:xfrm>
            <a:off x="6400800" y="1783080"/>
            <a:ext cx="5349240" cy="3794760"/>
          </a:xfrm>
          <a:prstGeom prst="roundRect">
            <a:avLst>
              <a:gd name="adj" fmla="val 144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9842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Segunda mitad  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317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A72"/>
                </a:solidFill>
              </a:rPr>
              <a:t>La fila por la que pasa cada petición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60904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Manejo de errores: detalle en desarrollo, respuesta genérica en producción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UseSwagger() publica el JSON y UseSwaggerUI() la página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RoutePrefix vacío deja Swagger en la raíz del sitio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UseCors() y MapControllers()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Antes de Run() probamos la conexión a MySQL, para que el error salga al arrancar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Run() arranca Kestrel y se queda escuchando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607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En la segunda mitad el orden importa: los middlewares se ejecutan de arriba hacia abajo.</a:t>
            </a:r>
            <a:endParaRPr lang="en-US" sz="1400" dirty="0"/>
          </a:p>
        </p:txBody>
      </p:sp>
      <p:sp>
        <p:nvSpPr>
          <p:cNvPr id="16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Cómo funciona la inyección de dependencias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Tres pasos, y en ninguno escribimos la palabra new</a:t>
            </a:r>
            <a:endParaRPr lang="en-US" sz="1500" dirty="0"/>
          </a:p>
        </p:txBody>
      </p:sp>
      <p:sp>
        <p:nvSpPr>
          <p:cNvPr id="6" name="paso-0"/>
          <p:cNvSpPr/>
          <p:nvPr/>
        </p:nvSpPr>
        <p:spPr>
          <a:xfrm>
            <a:off x="640080" y="1828800"/>
            <a:ext cx="345643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7" name="pasonum-0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contrato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7004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interfaz dice QUÉ se puede hacer, sin decir CÓMO. IMedicamentoRepositorio declara listar, crear, actualizar y borrar.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576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Interfaces\IMedicamentoRepositorio.cs</a:t>
            </a:r>
            <a:endParaRPr lang="en-US" sz="1100" dirty="0"/>
          </a:p>
        </p:txBody>
      </p:sp>
      <p:sp>
        <p:nvSpPr>
          <p:cNvPr id="12" name="pasoflecha-0"/>
          <p:cNvSpPr/>
          <p:nvPr/>
        </p:nvSpPr>
        <p:spPr>
          <a:xfrm>
            <a:off x="4133088" y="2880360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paso-1"/>
          <p:cNvSpPr/>
          <p:nvPr/>
        </p:nvSpPr>
        <p:spPr>
          <a:xfrm>
            <a:off x="4480560" y="1828800"/>
            <a:ext cx="345643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14" name="pasonum-1"/>
          <p:cNvSpPr/>
          <p:nvPr/>
        </p:nvSpPr>
        <p:spPr>
          <a:xfrm>
            <a:off x="475488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catálogo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67004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 Program.cs registramos: «cuando alguien pida esta interfaz, entrégale esta clase concreta».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6576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 ·  líneas 73 a 81</a:t>
            </a:r>
            <a:endParaRPr lang="en-US" sz="1100" dirty="0"/>
          </a:p>
        </p:txBody>
      </p:sp>
      <p:sp>
        <p:nvSpPr>
          <p:cNvPr id="19" name="pasoflecha-1"/>
          <p:cNvSpPr/>
          <p:nvPr/>
        </p:nvSpPr>
        <p:spPr>
          <a:xfrm>
            <a:off x="7973568" y="2880360"/>
            <a:ext cx="310896" cy="18288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0" name="paso-2"/>
          <p:cNvSpPr/>
          <p:nvPr/>
        </p:nvSpPr>
        <p:spPr>
          <a:xfrm>
            <a:off x="8321040" y="1828800"/>
            <a:ext cx="345643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21" name="pasonum-2"/>
          <p:cNvSpPr/>
          <p:nvPr/>
        </p:nvSpPr>
        <p:spPr>
          <a:xfrm>
            <a:off x="859536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 entrega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67004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El controlador solo pide la interfaz entre paréntesis. El framework construye la clase y se la pasa.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6576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MedicamentosController.cs  ·  línea 32</a:t>
            </a:r>
            <a:endParaRPr lang="en-US" sz="1100" dirty="0"/>
          </a:p>
        </p:txBody>
      </p:sp>
      <p:sp>
        <p:nvSpPr>
          <p:cNvPr id="26" name="frase"/>
          <p:cNvSpPr/>
          <p:nvPr/>
        </p:nvSpPr>
        <p:spPr>
          <a:xfrm>
            <a:off x="640080" y="4434840"/>
            <a:ext cx="9905695" cy="914400"/>
          </a:xfrm>
          <a:prstGeom prst="roundRect">
            <a:avLst>
              <a:gd name="adj" fmla="val 6000"/>
            </a:avLst>
          </a:prstGeom>
          <a:solidFill>
            <a:srgbClr val="0A3F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4128" y="4553712"/>
            <a:ext cx="913759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«El controlador no va a buscar sus herramientas: se las entregan ya listas en la puerta.»</a:t>
            </a:r>
            <a:endParaRPr lang="en-US" sz="1800" dirty="0"/>
          </a:p>
        </p:txBody>
      </p:sp>
      <p:sp>
        <p:nvSpPr>
          <p:cNvPr id="29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Nuestras cuatro interfaces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Todas en la carpeta Interfaces, registradas en Program.cs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9056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852160"/>
                <a:gridCol w="18562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FFFF"/>
                          </a:solidFill>
                        </a:rPr>
                        <a:t>INTERFAZ</a:t>
                      </a:r>
                      <a:endParaRPr lang="en-US" sz="11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FFFF"/>
                          </a:solidFill>
                        </a:rPr>
                        <a:t>QUÉ ABSTRAE</a:t>
                      </a:r>
                      <a:endParaRPr lang="en-US" sz="11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FFFF"/>
                          </a:solidFill>
                        </a:rPr>
                        <a:t>TIEMPO DE VIDA</a:t>
                      </a:r>
                      <a:endParaRPr lang="en-US" sz="11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D6B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IFabricaConexion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Crear y abrir la conexión a MySQL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Singleton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D6B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IMedicamentoRepositorio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El CRUD de la tabla medicamentos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Scoped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D6B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IClienteRepositorio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El CRUD de la tabla clientes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Scoped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D6B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IAuditoriaServicio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Registrar cada operación en consola y en la tabla auditoria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211D"/>
                          </a:solidFill>
                        </a:rPr>
                        <a:t>Scoped</a:t>
                      </a:r>
                      <a:endParaRPr lang="en-US" sz="13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ejor-ejemplo"/>
          <p:cNvSpPr/>
          <p:nvPr/>
        </p:nvSpPr>
        <p:spPr>
          <a:xfrm>
            <a:off x="640080" y="4224528"/>
            <a:ext cx="9905695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chemeClr val="accent1"/>
                </a:solidFill>
              </a:rPr>
              <a:t>El archivo para mostrar en pantalla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4663440"/>
            <a:ext cx="93204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MedicamentosController.cs</a:t>
            </a:r>
            <a:pPr indent="0" marL="0">
              <a:buNone/>
            </a:pPr>
            <a:r>
              <a:rPr lang="en-US" sz="1500" dirty="0">
                <a:solidFill>
                  <a:srgbClr val="11211D"/>
                </a:solidFill>
              </a:rPr>
              <a:t>, línea 32: recibe las cuatro cosas del enunciado a la vez — dos interfaces propias, ILogger e IConfiguration.</a:t>
            </a:r>
            <a:endParaRPr lang="en-US" sz="1500" dirty="0"/>
          </a:p>
        </p:txBody>
      </p:sp>
      <p:sp>
        <p:nvSpPr>
          <p:cNvPr id="11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Los métodos creados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CRUD completo de las dos tablas, más tres endpoints de apoyo</a:t>
            </a:r>
            <a:endParaRPr lang="en-US" sz="1500" dirty="0"/>
          </a:p>
        </p:txBody>
      </p:sp>
      <p:sp>
        <p:nvSpPr>
          <p:cNvPr id="6" name="grupo-0"/>
          <p:cNvSpPr/>
          <p:nvPr/>
        </p:nvSpPr>
        <p:spPr>
          <a:xfrm>
            <a:off x="640080" y="1828800"/>
            <a:ext cx="3456432" cy="288036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482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Medicamentos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957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api/medicamentos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lista todos  ?nombre=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632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30632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383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33832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/stock-bajo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7033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64208" y="37033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0233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 actualiza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3434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64208" y="43434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 elimina</a:t>
            </a:r>
            <a:endParaRPr lang="en-US" sz="1250" dirty="0"/>
          </a:p>
        </p:txBody>
      </p:sp>
      <p:sp>
        <p:nvSpPr>
          <p:cNvPr id="21" name="grupo-1"/>
          <p:cNvSpPr/>
          <p:nvPr/>
        </p:nvSpPr>
        <p:spPr>
          <a:xfrm>
            <a:off x="4480560" y="1828800"/>
            <a:ext cx="3456432" cy="288036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0482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3957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api/clientes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lista todos  ?buscar=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0632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504688" y="30632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383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04688" y="33832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7033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37033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 actualiza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0233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504688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/{id} elimina</a:t>
            </a:r>
            <a:endParaRPr lang="en-US" sz="1250" dirty="0"/>
          </a:p>
        </p:txBody>
      </p:sp>
      <p:sp>
        <p:nvSpPr>
          <p:cNvPr id="34" name="grupo-2"/>
          <p:cNvSpPr/>
          <p:nvPr/>
        </p:nvSpPr>
        <p:spPr>
          <a:xfrm>
            <a:off x="8321040" y="1828800"/>
            <a:ext cx="3456432" cy="288036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20482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Diagnóstico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3957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api/diagnostico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345168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/salud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30632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45168" y="30632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/auditoria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92040"/>
            <a:ext cx="9905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72"/>
                </a:solidFill>
              </a:rPr>
              <a:t>Además de los códigos 200 y 201, la API devuelve 400 cuando los datos no son válidos, 404 cuando el Id no existe y 409 si el documento de un cliente ya está registrado.</a:t>
            </a:r>
            <a:endParaRPr lang="en-US" sz="1400" dirty="0"/>
          </a:p>
        </p:txBody>
      </p:sp>
      <p:sp>
        <p:nvSpPr>
          <p:cNvPr id="43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Método de conexión a la base de datos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ADO.NET puro con MySqlConnector. Sin Entity Framework ni ningún otro ORM</a:t>
            </a:r>
            <a:endParaRPr lang="en-US" sz="1500" dirty="0"/>
          </a:p>
        </p:txBody>
      </p:sp>
      <p:sp>
        <p:nvSpPr>
          <p:cNvPr id="6" name="clase-0"/>
          <p:cNvSpPr/>
          <p:nvPr/>
        </p:nvSpPr>
        <p:spPr>
          <a:xfrm>
            <a:off x="640080" y="1828800"/>
            <a:ext cx="3456432" cy="1298448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48256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MySqlConnection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1401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Abre y cierra el canal con el servidor MySQL</a:t>
            </a:r>
            <a:endParaRPr lang="en-US" sz="1350" dirty="0"/>
          </a:p>
        </p:txBody>
      </p:sp>
      <p:sp>
        <p:nvSpPr>
          <p:cNvPr id="9" name="clase-1"/>
          <p:cNvSpPr/>
          <p:nvPr/>
        </p:nvSpPr>
        <p:spPr>
          <a:xfrm>
            <a:off x="4480560" y="1828800"/>
            <a:ext cx="3456432" cy="1298448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048256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MySqlCommand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41401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Lleva el texto del SQL y sus parámetros</a:t>
            </a:r>
            <a:endParaRPr lang="en-US" sz="1350" dirty="0"/>
          </a:p>
        </p:txBody>
      </p:sp>
      <p:sp>
        <p:nvSpPr>
          <p:cNvPr id="12" name="clase-2"/>
          <p:cNvSpPr/>
          <p:nvPr/>
        </p:nvSpPr>
        <p:spPr>
          <a:xfrm>
            <a:off x="8321040" y="1828800"/>
            <a:ext cx="3456432" cy="1298448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0" y="2048256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MySqlDataReader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41401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Recorre el resultado fila por fila</a:t>
            </a:r>
            <a:endParaRPr lang="en-US" sz="1350" dirty="0"/>
          </a:p>
        </p:txBody>
      </p:sp>
      <p:sp>
        <p:nvSpPr>
          <p:cNvPr id="15" name="sql-injection"/>
          <p:cNvSpPr/>
          <p:nvPr/>
        </p:nvSpPr>
        <p:spPr>
          <a:xfrm>
            <a:off x="640080" y="3364992"/>
            <a:ext cx="9905695" cy="1188720"/>
          </a:xfrm>
          <a:prstGeom prst="roundRect">
            <a:avLst>
              <a:gd name="adj" fmla="val 4615"/>
            </a:avLst>
          </a:prstGeom>
          <a:solidFill>
            <a:srgbClr val="0A3F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3511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BAAE"/>
                </a:solidFill>
              </a:rPr>
              <a:t>LO MÁS IMPORTANTE DE ESTA DIAPOSITIVA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3803904"/>
            <a:ext cx="92107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Todos los valores viajan como parámetros (</a:t>
            </a:r>
            <a:pPr indent="0" marL="0">
              <a:buNone/>
            </a:pPr>
            <a:r>
              <a:rPr lang="en-US" sz="1600" b="1" dirty="0">
                <a:solidFill>
                  <a:srgbClr val="7FD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), nunca pegados al texto del SQL. Eso es lo que evita la inyección SQL.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Dos detalles de MySQL que nos obligaron a escribir código distinto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2920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MySQL no tiene la cláusula RETURNING de PostgreSQL, así que después del INSERT leemos LastInsertedId para recuperar el Id generado.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un UPDATE las filas afectadas pueden ser 0 aunque el registro exista, si los valores no cambiaron. Por eso verificamos la existencia aparte en lugar de devolver un 404 equivocado.</a:t>
            </a:r>
            <a:endParaRPr lang="en-US" sz="1300" dirty="0"/>
          </a:p>
        </p:txBody>
      </p:sp>
      <p:sp>
        <p:nvSpPr>
          <p:cNvPr id="21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lon"/>
          <p:cNvSpPr/>
          <p:nvPr/>
        </p:nvSpPr>
        <p:spPr>
          <a:xfrm>
            <a:off x="10984687" y="5120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84687" y="512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Oportunidades de mejora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Documentamos 17 en las notas del proyecto. Estas son las tres más importantes</a:t>
            </a:r>
            <a:endParaRPr lang="en-US" sz="1500" dirty="0"/>
          </a:p>
        </p:txBody>
      </p:sp>
      <p:sp>
        <p:nvSpPr>
          <p:cNvPr id="6" name="mejora-0"/>
          <p:cNvSpPr/>
          <p:nvPr/>
        </p:nvSpPr>
        <p:spPr>
          <a:xfrm>
            <a:off x="640080" y="1828800"/>
            <a:ext cx="3456432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7" name="mejoranum-0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70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Falta autenticación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3580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Hoy cualquiera puede borrar un medicamento. Haría falta JWT con [Authorize] y roles: administrador, farmacéutico y cajero.</a:t>
            </a:r>
            <a:endParaRPr lang="en-US" sz="1300" dirty="0"/>
          </a:p>
        </p:txBody>
      </p:sp>
      <p:sp>
        <p:nvSpPr>
          <p:cNvPr id="11" name="mejora-1"/>
          <p:cNvSpPr/>
          <p:nvPr/>
        </p:nvSpPr>
        <p:spPr>
          <a:xfrm>
            <a:off x="4480560" y="1828800"/>
            <a:ext cx="3456432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2" name="mejoranum-1"/>
          <p:cNvSpPr/>
          <p:nvPr/>
        </p:nvSpPr>
        <p:spPr>
          <a:xfrm>
            <a:off x="475488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70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Falta paginación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03580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GET trae la tabla completa. Con 50.000 medicamentos la respuesta sería inmanejable: haría falta ?pagina y ?tamano con LIMIT y OFFSET.</a:t>
            </a:r>
            <a:endParaRPr lang="en-US" sz="1300" dirty="0"/>
          </a:p>
        </p:txBody>
      </p:sp>
      <p:sp>
        <p:nvSpPr>
          <p:cNvPr id="16" name="mejora-2"/>
          <p:cNvSpPr/>
          <p:nvPr/>
        </p:nvSpPr>
        <p:spPr>
          <a:xfrm>
            <a:off x="8321040" y="1828800"/>
            <a:ext cx="3456432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7" name="mejoranum-2"/>
          <p:cNvSpPr/>
          <p:nvPr/>
        </p:nvSpPr>
        <p:spPr>
          <a:xfrm>
            <a:off x="859536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670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Falta borrado lógico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03580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Ya existe la columna activo, pero el DELETE borra la fila de verdad. Sería mejor marcarla como inactiva y no perder el histórico.</a:t>
            </a:r>
            <a:endParaRPr lang="en-US" sz="1300" dirty="0"/>
          </a:p>
        </p:txBody>
      </p:sp>
      <p:sp>
        <p:nvSpPr>
          <p:cNvPr id="21" name="mejora-extra"/>
          <p:cNvSpPr/>
          <p:nvPr/>
        </p:nvSpPr>
        <p:spPr>
          <a:xfrm>
            <a:off x="640080" y="4315968"/>
            <a:ext cx="9905695" cy="1024128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" y="4443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chemeClr val="accent1"/>
                </a:solidFill>
              </a:rPr>
              <a:t>Y una cuarta, si hay tiempo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736592"/>
            <a:ext cx="93204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hay pruebas automatizadas. Y precisamente porque todo depende de interfaces, sería fácil escribirlas sustituyendo los repositorios por dobles de prueba.</a:t>
            </a:r>
            <a:endParaRPr lang="en-US" sz="1500" dirty="0"/>
          </a:p>
        </p:txBody>
      </p:sp>
      <p:sp>
        <p:nvSpPr>
          <p:cNvPr id="25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99056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demostración en vivo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21615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E7A72"/>
                </a:solidFill>
              </a:rPr>
              <a:t>Este orden toca todos los requisitos del enunciado. Los códigos son los que verificamos</a:t>
            </a:r>
            <a:endParaRPr lang="en-US" sz="1500" dirty="0"/>
          </a:p>
        </p:txBody>
      </p:sp>
      <p:sp>
        <p:nvSpPr>
          <p:cNvPr id="4" name="demofondo-0"/>
          <p:cNvSpPr/>
          <p:nvPr/>
        </p:nvSpPr>
        <p:spPr>
          <a:xfrm>
            <a:off x="640080" y="1783080"/>
            <a:ext cx="9905695" cy="3246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783080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/diagnostico/salud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83080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confirma la conexión y muestra la configuración</a:t>
            </a:r>
            <a:endParaRPr lang="en-US" sz="1250" dirty="0"/>
          </a:p>
        </p:txBody>
      </p:sp>
      <p:sp>
        <p:nvSpPr>
          <p:cNvPr id="8" name="demochip-0"/>
          <p:cNvSpPr/>
          <p:nvPr/>
        </p:nvSpPr>
        <p:spPr>
          <a:xfrm>
            <a:off x="10561320" y="1810512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61320" y="1810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07692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2107692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/medicamentos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07692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lista los 6 medicamentos de prueba</a:t>
            </a:r>
            <a:endParaRPr lang="en-US" sz="1250" dirty="0"/>
          </a:p>
        </p:txBody>
      </p:sp>
      <p:sp>
        <p:nvSpPr>
          <p:cNvPr id="13" name="demochip-1"/>
          <p:cNvSpPr/>
          <p:nvPr/>
        </p:nvSpPr>
        <p:spPr>
          <a:xfrm>
            <a:off x="10561320" y="2135124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61320" y="21351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200</a:t>
            </a:r>
            <a:endParaRPr lang="en-US" sz="1100" dirty="0"/>
          </a:p>
        </p:txBody>
      </p:sp>
      <p:sp>
        <p:nvSpPr>
          <p:cNvPr id="15" name="demofondo-2"/>
          <p:cNvSpPr/>
          <p:nvPr/>
        </p:nvSpPr>
        <p:spPr>
          <a:xfrm>
            <a:off x="640080" y="2432304"/>
            <a:ext cx="9905695" cy="3246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432304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2432304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/medicamentos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432304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 uno nuevo; señalar la cabecera Location</a:t>
            </a:r>
            <a:endParaRPr lang="en-US" sz="1250" dirty="0"/>
          </a:p>
        </p:txBody>
      </p:sp>
      <p:sp>
        <p:nvSpPr>
          <p:cNvPr id="19" name="demochip-2"/>
          <p:cNvSpPr/>
          <p:nvPr/>
        </p:nvSpPr>
        <p:spPr>
          <a:xfrm>
            <a:off x="10561320" y="2459736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61320" y="24597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756916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2756916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con fecha vencida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756916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regla de negocio en el controlador</a:t>
            </a:r>
            <a:endParaRPr lang="en-US" sz="1250" dirty="0"/>
          </a:p>
        </p:txBody>
      </p:sp>
      <p:sp>
        <p:nvSpPr>
          <p:cNvPr id="24" name="demochip-3"/>
          <p:cNvSpPr/>
          <p:nvPr/>
        </p:nvSpPr>
        <p:spPr>
          <a:xfrm>
            <a:off x="10561320" y="2784348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F6EBD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61320" y="27843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400</a:t>
            </a:r>
            <a:endParaRPr lang="en-US" sz="1100" dirty="0"/>
          </a:p>
        </p:txBody>
      </p:sp>
      <p:sp>
        <p:nvSpPr>
          <p:cNvPr id="26" name="demofondo-4"/>
          <p:cNvSpPr/>
          <p:nvPr/>
        </p:nvSpPr>
        <p:spPr>
          <a:xfrm>
            <a:off x="640080" y="3081528"/>
            <a:ext cx="9905695" cy="3246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3081528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3081528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con precio negativo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081528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validación automática de los DTO</a:t>
            </a:r>
            <a:endParaRPr lang="en-US" sz="1250" dirty="0"/>
          </a:p>
        </p:txBody>
      </p:sp>
      <p:sp>
        <p:nvSpPr>
          <p:cNvPr id="30" name="demochip-4"/>
          <p:cNvSpPr/>
          <p:nvPr/>
        </p:nvSpPr>
        <p:spPr>
          <a:xfrm>
            <a:off x="10561320" y="3108960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F6EBD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61320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406140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" y="3406140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/medicamentos/{id}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406140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actualiza el que acabamos de crear</a:t>
            </a:r>
            <a:endParaRPr lang="en-US" sz="1250" dirty="0"/>
          </a:p>
        </p:txBody>
      </p:sp>
      <p:sp>
        <p:nvSpPr>
          <p:cNvPr id="35" name="demochip-5"/>
          <p:cNvSpPr/>
          <p:nvPr/>
        </p:nvSpPr>
        <p:spPr>
          <a:xfrm>
            <a:off x="10561320" y="3433572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561320" y="34335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200</a:t>
            </a:r>
            <a:endParaRPr lang="en-US" sz="1100" dirty="0"/>
          </a:p>
        </p:txBody>
      </p:sp>
      <p:sp>
        <p:nvSpPr>
          <p:cNvPr id="37" name="demofondo-6"/>
          <p:cNvSpPr/>
          <p:nvPr/>
        </p:nvSpPr>
        <p:spPr>
          <a:xfrm>
            <a:off x="640080" y="3730752"/>
            <a:ext cx="9905695" cy="3246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3730752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" y="3730752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/medicamentos/{id}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3730752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sin contenido de respuesta</a:t>
            </a:r>
            <a:endParaRPr lang="en-US" sz="1250" dirty="0"/>
          </a:p>
        </p:txBody>
      </p:sp>
      <p:sp>
        <p:nvSpPr>
          <p:cNvPr id="41" name="demochip-6"/>
          <p:cNvSpPr/>
          <p:nvPr/>
        </p:nvSpPr>
        <p:spPr>
          <a:xfrm>
            <a:off x="10561320" y="3758184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561320" y="37581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204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4055364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" y="4055364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/medicamentos/999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4055364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 Id que no existe</a:t>
            </a:r>
            <a:endParaRPr lang="en-US" sz="1250" dirty="0"/>
          </a:p>
        </p:txBody>
      </p:sp>
      <p:sp>
        <p:nvSpPr>
          <p:cNvPr id="46" name="demochip-7"/>
          <p:cNvSpPr/>
          <p:nvPr/>
        </p:nvSpPr>
        <p:spPr>
          <a:xfrm>
            <a:off x="10561320" y="4082796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F6E2E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561320" y="40827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404</a:t>
            </a:r>
            <a:endParaRPr lang="en-US" sz="1100" dirty="0"/>
          </a:p>
        </p:txBody>
      </p:sp>
      <p:sp>
        <p:nvSpPr>
          <p:cNvPr id="48" name="demofondo-8"/>
          <p:cNvSpPr/>
          <p:nvPr/>
        </p:nvSpPr>
        <p:spPr>
          <a:xfrm>
            <a:off x="640080" y="4379976"/>
            <a:ext cx="9905695" cy="3246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1520" y="4379976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9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152144" y="4379976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/clientes documento repetido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663440" y="4379976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conflicto por la regla de documento único</a:t>
            </a:r>
            <a:endParaRPr lang="en-US" sz="1250" dirty="0"/>
          </a:p>
        </p:txBody>
      </p:sp>
      <p:sp>
        <p:nvSpPr>
          <p:cNvPr id="52" name="demochip-8"/>
          <p:cNvSpPr/>
          <p:nvPr/>
        </p:nvSpPr>
        <p:spPr>
          <a:xfrm>
            <a:off x="10561320" y="4407408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F6E2E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61320" y="44074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409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4704588"/>
            <a:ext cx="3108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10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152144" y="4704588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/diagnostico/auditoria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663440" y="4704588"/>
            <a:ext cx="5577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todo lo anterior quedó registrado en MySQL</a:t>
            </a:r>
            <a:endParaRPr lang="en-US" sz="1250" dirty="0"/>
          </a:p>
        </p:txBody>
      </p:sp>
      <p:sp>
        <p:nvSpPr>
          <p:cNvPr id="57" name="demochip-9"/>
          <p:cNvSpPr/>
          <p:nvPr/>
        </p:nvSpPr>
        <p:spPr>
          <a:xfrm>
            <a:off x="10561320" y="4732020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DCEBE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561320" y="47320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200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5230368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Al final: mostrar la ventana de la consola. Cada paso dejó su línea escrita por ILogger.</a:t>
            </a:r>
            <a:endParaRPr lang="en-US" sz="1400" dirty="0"/>
          </a:p>
        </p:txBody>
      </p:sp>
      <p:sp>
        <p:nvSpPr>
          <p:cNvPr id="61" name="Text 1"/>
          <p:cNvSpPr/>
          <p:nvPr>
            <p:ph idx="103" hasCustomPrompt="1"/>
          </p:nvPr>
        </p:nvSpPr>
        <p:spPr>
          <a:xfrm>
            <a:off x="1100297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uz-vertical"/>
          <p:cNvSpPr/>
          <p:nvPr/>
        </p:nvSpPr>
        <p:spPr>
          <a:xfrm>
            <a:off x="10081260" y="1097280"/>
            <a:ext cx="868680" cy="2560320"/>
          </a:xfrm>
          <a:prstGeom prst="roundRect">
            <a:avLst>
              <a:gd name="adj" fmla="val 12632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cruz-horizontal"/>
          <p:cNvSpPr/>
          <p:nvPr/>
        </p:nvSpPr>
        <p:spPr>
          <a:xfrm>
            <a:off x="9235440" y="19431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Gracias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611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8CF"/>
                </a:solidFill>
              </a:rPr>
              <a:t>¿Preguntas?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83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8CF"/>
                </a:solidFill>
              </a:rPr>
              <a:t>Luis Calderón  22-1392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D8CF"/>
                </a:solidFill>
              </a:rPr>
              <a:t>Rafael Ureña  22-1836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macia API">
  <a:themeElements>
    <a:clrScheme name="Farmacia API">
      <a:dk1>
        <a:srgbClr val="11211D"/>
      </a:dk1>
      <a:lt1>
        <a:srgbClr val="FFFFFF"/>
      </a:lt1>
      <a:dk2>
        <a:srgbClr val="0D4F43"/>
      </a:dk2>
      <a:lt2>
        <a:srgbClr val="EDF4F1"/>
      </a:lt2>
      <a:accent1>
        <a:srgbClr val="0D6B58"/>
      </a:accent1>
      <a:accent2>
        <a:srgbClr val="1C7293"/>
      </a:accent2>
      <a:accent3>
        <a:srgbClr val="A8641B"/>
      </a:accent3>
      <a:accent4>
        <a:srgbClr val="9B2C25"/>
      </a:accent4>
      <a:accent5>
        <a:srgbClr val="5E8C7F"/>
      </a:accent5>
      <a:accent6>
        <a:srgbClr val="8FAF9F"/>
      </a:accent6>
      <a:hlink>
        <a:srgbClr val="0D6B58"/>
      </a:hlink>
      <a:folHlink>
        <a:srgbClr val="5E8C7F"/>
      </a:folHlink>
    </a:clrScheme>
    <a:fontScheme name="Farmacia AP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Farmacia API</dc:title>
  <dc:subject>Web API REST con ASP.NET Core 9 y MySQL</dc:subject>
  <dc:creator>Luis Calderon, Rafael Urena</dc:creator>
  <cp:lastModifiedBy>Luis Calderon, Rafael Urena</cp:lastModifiedBy>
  <cp:revision>1</cp:revision>
  <dcterms:created xsi:type="dcterms:W3CDTF">2026-10-06T23:52:48Z</dcterms:created>
  <dcterms:modified xsi:type="dcterms:W3CDTF">2026-10-06T23:52:48Z</dcterms:modified>
</cp:coreProperties>
</file>